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Arimo"/>
      <p:regular r:id="rId19"/>
      <p:bold r:id="rId20"/>
      <p:italic r:id="rId21"/>
      <p:boldItalic r:id="rId22"/>
    </p:embeddedFont>
    <p:embeddedFont>
      <p:font typeface="Radio Canada Big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.fntdata"/><Relationship Id="rId22" Type="http://schemas.openxmlformats.org/officeDocument/2006/relationships/font" Target="fonts/Arimo-boldItalic.fntdata"/><Relationship Id="rId21" Type="http://schemas.openxmlformats.org/officeDocument/2006/relationships/font" Target="fonts/Arimo-italic.fntdata"/><Relationship Id="rId24" Type="http://schemas.openxmlformats.org/officeDocument/2006/relationships/font" Target="fonts/RadioCanadaBig-bold.fntdata"/><Relationship Id="rId23" Type="http://schemas.openxmlformats.org/officeDocument/2006/relationships/font" Target="fonts/RadioCanadaBig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dioCanadaBig-boldItalic.fntdata"/><Relationship Id="rId25" Type="http://schemas.openxmlformats.org/officeDocument/2006/relationships/font" Target="fonts/RadioCanadaBig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aleway-regular.fntdata"/><Relationship Id="rId14" Type="http://schemas.openxmlformats.org/officeDocument/2006/relationships/slide" Target="slides/slide10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Arimo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5e285c1c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35e285c1c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e1d838b62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e1d838b62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7a631c5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7a631c5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7a631c5fa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7a631c5fa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7a631c5fa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7a631c5fa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7a631c5fa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7a631c5fa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7a631c5fa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7a631c5fa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7a631c5fa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7a631c5fa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7a631c5fa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d7a631c5fa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7a631c5fa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d7a631c5fa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083900" y="165400"/>
            <a:ext cx="5594100" cy="186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5544675" y="2240000"/>
            <a:ext cx="3060000" cy="127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>
            <p:ph idx="2" type="pic"/>
          </p:nvPr>
        </p:nvSpPr>
        <p:spPr>
          <a:xfrm>
            <a:off x="228601" y="425800"/>
            <a:ext cx="2584200" cy="4385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2" name="Google Shape;12;p2"/>
          <p:cNvCxnSpPr/>
          <p:nvPr/>
        </p:nvCxnSpPr>
        <p:spPr>
          <a:xfrm rot="10800000">
            <a:off x="228600" y="4963825"/>
            <a:ext cx="37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993700" y="3297875"/>
            <a:ext cx="3467100" cy="17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228600" y="36600"/>
            <a:ext cx="2228400" cy="1269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228600" y="3608088"/>
            <a:ext cx="2120100" cy="56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6628375" y="261775"/>
            <a:ext cx="2287200" cy="4611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28600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944150"/>
            <a:ext cx="7704000" cy="4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cxnSp>
        <p:nvCxnSpPr>
          <p:cNvPr id="21" name="Google Shape;21;p4"/>
          <p:cNvCxnSpPr/>
          <p:nvPr/>
        </p:nvCxnSpPr>
        <p:spPr>
          <a:xfrm rot="10800000">
            <a:off x="8297700" y="423563"/>
            <a:ext cx="37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457203" y="1198025"/>
            <a:ext cx="3941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latin typeface="Radio Canada Big"/>
                <a:ea typeface="Radio Canada Big"/>
                <a:cs typeface="Radio Canada Big"/>
                <a:sym typeface="Radio Canada Big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57203" y="3008601"/>
            <a:ext cx="3941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latin typeface="Radio Canada Big"/>
                <a:ea typeface="Radio Canada Big"/>
                <a:cs typeface="Radio Canada Big"/>
                <a:sym typeface="Radio Canada Big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457203" y="1770723"/>
            <a:ext cx="39414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57203" y="3581300"/>
            <a:ext cx="39414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28600"/>
            <a:ext cx="5416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8" name="Google Shape;28;p5"/>
          <p:cNvSpPr/>
          <p:nvPr>
            <p:ph idx="5" type="pic"/>
          </p:nvPr>
        </p:nvSpPr>
        <p:spPr>
          <a:xfrm>
            <a:off x="6074675" y="302100"/>
            <a:ext cx="2840700" cy="4612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57200" y="228600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7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5913075" y="228600"/>
            <a:ext cx="3002400" cy="85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457200" y="228600"/>
            <a:ext cx="845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subTitle"/>
          </p:nvPr>
        </p:nvSpPr>
        <p:spPr>
          <a:xfrm>
            <a:off x="457200" y="1543675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700">
                <a:latin typeface="Radio Canada Big"/>
                <a:ea typeface="Radio Canada Big"/>
                <a:cs typeface="Radio Canada Big"/>
                <a:sym typeface="Radio Canada Big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2" type="subTitle"/>
          </p:nvPr>
        </p:nvSpPr>
        <p:spPr>
          <a:xfrm>
            <a:off x="457200" y="2320108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700">
                <a:latin typeface="Radio Canada Big"/>
                <a:ea typeface="Radio Canada Big"/>
                <a:cs typeface="Radio Canada Big"/>
                <a:sym typeface="Radio Canada Big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3" type="subTitle"/>
          </p:nvPr>
        </p:nvSpPr>
        <p:spPr>
          <a:xfrm>
            <a:off x="457200" y="3109554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700">
                <a:latin typeface="Radio Canada Big"/>
                <a:ea typeface="Radio Canada Big"/>
                <a:cs typeface="Radio Canada Big"/>
                <a:sym typeface="Radio Canada Big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4" type="subTitle"/>
          </p:nvPr>
        </p:nvSpPr>
        <p:spPr>
          <a:xfrm>
            <a:off x="457200" y="3899025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700">
                <a:latin typeface="Radio Canada Big"/>
                <a:ea typeface="Radio Canada Big"/>
                <a:cs typeface="Radio Canada Big"/>
                <a:sym typeface="Radio Canada Big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5" type="subTitle"/>
          </p:nvPr>
        </p:nvSpPr>
        <p:spPr>
          <a:xfrm>
            <a:off x="6115500" y="1543663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700">
                <a:latin typeface="Radio Canada Big"/>
                <a:ea typeface="Radio Canada Big"/>
                <a:cs typeface="Radio Canada Big"/>
                <a:sym typeface="Radio Canada Big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6" type="subTitle"/>
          </p:nvPr>
        </p:nvSpPr>
        <p:spPr>
          <a:xfrm>
            <a:off x="6115500" y="2320094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700">
                <a:latin typeface="Radio Canada Big"/>
                <a:ea typeface="Radio Canada Big"/>
                <a:cs typeface="Radio Canada Big"/>
                <a:sym typeface="Radio Canada Big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7" type="subTitle"/>
          </p:nvPr>
        </p:nvSpPr>
        <p:spPr>
          <a:xfrm>
            <a:off x="6115500" y="3109537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700">
                <a:latin typeface="Radio Canada Big"/>
                <a:ea typeface="Radio Canada Big"/>
                <a:cs typeface="Radio Canada Big"/>
                <a:sym typeface="Radio Canada Big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8" type="subTitle"/>
          </p:nvPr>
        </p:nvSpPr>
        <p:spPr>
          <a:xfrm>
            <a:off x="6115500" y="3899006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700">
                <a:latin typeface="Radio Canada Big"/>
                <a:ea typeface="Radio Canada Big"/>
                <a:cs typeface="Radio Canada Big"/>
                <a:sym typeface="Radio Canada Big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hasCustomPrompt="1" idx="9" type="title"/>
          </p:nvPr>
        </p:nvSpPr>
        <p:spPr>
          <a:xfrm>
            <a:off x="3040226" y="3965513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hasCustomPrompt="1" idx="13" type="title"/>
          </p:nvPr>
        </p:nvSpPr>
        <p:spPr>
          <a:xfrm>
            <a:off x="3040226" y="2386396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14" type="title"/>
          </p:nvPr>
        </p:nvSpPr>
        <p:spPr>
          <a:xfrm>
            <a:off x="3040226" y="1610163"/>
            <a:ext cx="8643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hasCustomPrompt="1" idx="15" type="title"/>
          </p:nvPr>
        </p:nvSpPr>
        <p:spPr>
          <a:xfrm>
            <a:off x="3040226" y="3175942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hasCustomPrompt="1" idx="16" type="title"/>
          </p:nvPr>
        </p:nvSpPr>
        <p:spPr>
          <a:xfrm>
            <a:off x="5210389" y="2397331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hasCustomPrompt="1" idx="17" type="title"/>
          </p:nvPr>
        </p:nvSpPr>
        <p:spPr>
          <a:xfrm>
            <a:off x="5210387" y="3186775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hasCustomPrompt="1" idx="18" type="title"/>
          </p:nvPr>
        </p:nvSpPr>
        <p:spPr>
          <a:xfrm>
            <a:off x="5210389" y="3976244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hasCustomPrompt="1" idx="19" type="title"/>
          </p:nvPr>
        </p:nvSpPr>
        <p:spPr>
          <a:xfrm>
            <a:off x="5210389" y="1620900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cxnSp>
        <p:nvCxnSpPr>
          <p:cNvPr id="66" name="Google Shape;66;p13"/>
          <p:cNvCxnSpPr/>
          <p:nvPr/>
        </p:nvCxnSpPr>
        <p:spPr>
          <a:xfrm rot="10800000">
            <a:off x="8297700" y="423563"/>
            <a:ext cx="37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457200" y="228600"/>
            <a:ext cx="6935700" cy="1490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3352800" y="1833900"/>
            <a:ext cx="5562600" cy="308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0" name="Google Shape;70;p14"/>
          <p:cNvCxnSpPr/>
          <p:nvPr/>
        </p:nvCxnSpPr>
        <p:spPr>
          <a:xfrm rot="10800000">
            <a:off x="8297700" y="423563"/>
            <a:ext cx="37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457200" y="228600"/>
            <a:ext cx="5030100" cy="1992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139025" y="2220725"/>
            <a:ext cx="4294800" cy="27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5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5" name="Google Shape;75;p15"/>
          <p:cNvCxnSpPr/>
          <p:nvPr/>
        </p:nvCxnSpPr>
        <p:spPr>
          <a:xfrm rot="10800000">
            <a:off x="228600" y="4733663"/>
            <a:ext cx="37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457200" y="228600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457825" y="2700758"/>
            <a:ext cx="56187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2" type="subTitle"/>
          </p:nvPr>
        </p:nvSpPr>
        <p:spPr>
          <a:xfrm>
            <a:off x="457225" y="1468240"/>
            <a:ext cx="56187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3" type="subTitle"/>
          </p:nvPr>
        </p:nvSpPr>
        <p:spPr>
          <a:xfrm>
            <a:off x="457225" y="3933275"/>
            <a:ext cx="56187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hasCustomPrompt="1" type="title"/>
          </p:nvPr>
        </p:nvSpPr>
        <p:spPr>
          <a:xfrm>
            <a:off x="457221" y="2304630"/>
            <a:ext cx="6789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7"/>
          <p:cNvSpPr txBox="1"/>
          <p:nvPr>
            <p:ph hasCustomPrompt="1" idx="4" type="title"/>
          </p:nvPr>
        </p:nvSpPr>
        <p:spPr>
          <a:xfrm>
            <a:off x="457204" y="1072413"/>
            <a:ext cx="6777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4" name="Google Shape;84;p17"/>
          <p:cNvSpPr txBox="1"/>
          <p:nvPr>
            <p:ph hasCustomPrompt="1" idx="5" type="title"/>
          </p:nvPr>
        </p:nvSpPr>
        <p:spPr>
          <a:xfrm>
            <a:off x="457188" y="3537148"/>
            <a:ext cx="6789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5" name="Google Shape;85;p17"/>
          <p:cNvSpPr txBox="1"/>
          <p:nvPr>
            <p:ph idx="6" type="title"/>
          </p:nvPr>
        </p:nvSpPr>
        <p:spPr>
          <a:xfrm>
            <a:off x="457200" y="228600"/>
            <a:ext cx="6211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86" name="Google Shape;86;p17"/>
          <p:cNvSpPr/>
          <p:nvPr>
            <p:ph idx="7" type="pic"/>
          </p:nvPr>
        </p:nvSpPr>
        <p:spPr>
          <a:xfrm>
            <a:off x="6745800" y="293700"/>
            <a:ext cx="2169600" cy="21696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7"/>
          <p:cNvSpPr/>
          <p:nvPr>
            <p:ph idx="8" type="pic"/>
          </p:nvPr>
        </p:nvSpPr>
        <p:spPr>
          <a:xfrm>
            <a:off x="6745800" y="2745300"/>
            <a:ext cx="2169600" cy="2169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" type="subTitle"/>
          </p:nvPr>
        </p:nvSpPr>
        <p:spPr>
          <a:xfrm>
            <a:off x="1117550" y="1181809"/>
            <a:ext cx="23811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2" type="subTitle"/>
          </p:nvPr>
        </p:nvSpPr>
        <p:spPr>
          <a:xfrm>
            <a:off x="1117546" y="2154429"/>
            <a:ext cx="23811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3" type="subTitle"/>
          </p:nvPr>
        </p:nvSpPr>
        <p:spPr>
          <a:xfrm>
            <a:off x="5564821" y="1181809"/>
            <a:ext cx="23811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4" type="subTitle"/>
          </p:nvPr>
        </p:nvSpPr>
        <p:spPr>
          <a:xfrm>
            <a:off x="5564821" y="2154429"/>
            <a:ext cx="23811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5" type="subTitle"/>
          </p:nvPr>
        </p:nvSpPr>
        <p:spPr>
          <a:xfrm>
            <a:off x="1117547" y="3120538"/>
            <a:ext cx="23811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6" type="subTitle"/>
          </p:nvPr>
        </p:nvSpPr>
        <p:spPr>
          <a:xfrm>
            <a:off x="5564821" y="3120538"/>
            <a:ext cx="23811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457200" y="228600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hasCustomPrompt="1" idx="7" type="title"/>
          </p:nvPr>
        </p:nvSpPr>
        <p:spPr>
          <a:xfrm>
            <a:off x="4829246" y="3172329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8"/>
          <p:cNvSpPr txBox="1"/>
          <p:nvPr>
            <p:ph hasCustomPrompt="1" idx="8" type="title"/>
          </p:nvPr>
        </p:nvSpPr>
        <p:spPr>
          <a:xfrm>
            <a:off x="457197" y="3172329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8"/>
          <p:cNvSpPr txBox="1"/>
          <p:nvPr>
            <p:ph hasCustomPrompt="1" idx="9" type="title"/>
          </p:nvPr>
        </p:nvSpPr>
        <p:spPr>
          <a:xfrm>
            <a:off x="457946" y="2206370"/>
            <a:ext cx="8643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9" name="Google Shape;99;p18"/>
          <p:cNvSpPr txBox="1"/>
          <p:nvPr>
            <p:ph hasCustomPrompt="1" idx="13" type="title"/>
          </p:nvPr>
        </p:nvSpPr>
        <p:spPr>
          <a:xfrm>
            <a:off x="4829246" y="2206220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0" name="Google Shape;100;p18"/>
          <p:cNvSpPr txBox="1"/>
          <p:nvPr>
            <p:ph hasCustomPrompt="1" idx="14" type="title"/>
          </p:nvPr>
        </p:nvSpPr>
        <p:spPr>
          <a:xfrm>
            <a:off x="457200" y="1233600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8"/>
          <p:cNvSpPr txBox="1"/>
          <p:nvPr>
            <p:ph hasCustomPrompt="1" idx="15" type="title"/>
          </p:nvPr>
        </p:nvSpPr>
        <p:spPr>
          <a:xfrm>
            <a:off x="4829246" y="1233600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2" name="Google Shape;102;p18"/>
          <p:cNvSpPr/>
          <p:nvPr>
            <p:ph idx="16" type="pic"/>
          </p:nvPr>
        </p:nvSpPr>
        <p:spPr>
          <a:xfrm>
            <a:off x="0" y="4006725"/>
            <a:ext cx="9144000" cy="1136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hasCustomPrompt="1" type="title"/>
          </p:nvPr>
        </p:nvSpPr>
        <p:spPr>
          <a:xfrm>
            <a:off x="546600" y="767323"/>
            <a:ext cx="34938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546600" y="1635541"/>
            <a:ext cx="3493800" cy="44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hasCustomPrompt="1" idx="2" type="title"/>
          </p:nvPr>
        </p:nvSpPr>
        <p:spPr>
          <a:xfrm>
            <a:off x="5421600" y="3148960"/>
            <a:ext cx="34938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7" name="Google Shape;107;p19"/>
          <p:cNvSpPr txBox="1"/>
          <p:nvPr>
            <p:ph idx="3" type="subTitle"/>
          </p:nvPr>
        </p:nvSpPr>
        <p:spPr>
          <a:xfrm>
            <a:off x="5421600" y="4017115"/>
            <a:ext cx="3493800" cy="44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9"/>
          <p:cNvSpPr/>
          <p:nvPr>
            <p:ph idx="4" type="pic"/>
          </p:nvPr>
        </p:nvSpPr>
        <p:spPr>
          <a:xfrm>
            <a:off x="4080226" y="678185"/>
            <a:ext cx="2789400" cy="1325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9"/>
          <p:cNvSpPr/>
          <p:nvPr>
            <p:ph idx="5" type="pic"/>
          </p:nvPr>
        </p:nvSpPr>
        <p:spPr>
          <a:xfrm>
            <a:off x="7054201" y="678185"/>
            <a:ext cx="1543200" cy="13254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9"/>
          <p:cNvSpPr/>
          <p:nvPr>
            <p:ph idx="6" type="pic"/>
          </p:nvPr>
        </p:nvSpPr>
        <p:spPr>
          <a:xfrm>
            <a:off x="546601" y="3098860"/>
            <a:ext cx="1543200" cy="13254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9"/>
          <p:cNvSpPr/>
          <p:nvPr>
            <p:ph idx="7" type="pic"/>
          </p:nvPr>
        </p:nvSpPr>
        <p:spPr>
          <a:xfrm>
            <a:off x="2280976" y="3098860"/>
            <a:ext cx="2789400" cy="1325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418125" y="130925"/>
            <a:ext cx="5090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14" name="Google Shape;114;p20"/>
          <p:cNvSpPr txBox="1"/>
          <p:nvPr>
            <p:ph idx="1" type="subTitle"/>
          </p:nvPr>
        </p:nvSpPr>
        <p:spPr>
          <a:xfrm>
            <a:off x="505375" y="1157050"/>
            <a:ext cx="44481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/>
        </p:nvSpPr>
        <p:spPr>
          <a:xfrm>
            <a:off x="6038700" y="3758850"/>
            <a:ext cx="28767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and includes icons,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b="1" sz="1000" u="sng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116" name="Google Shape;116;p20"/>
          <p:cNvCxnSpPr/>
          <p:nvPr/>
        </p:nvCxnSpPr>
        <p:spPr>
          <a:xfrm rot="10800000">
            <a:off x="8297700" y="755613"/>
            <a:ext cx="37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21"/>
          <p:cNvCxnSpPr/>
          <p:nvPr/>
        </p:nvCxnSpPr>
        <p:spPr>
          <a:xfrm rot="10800000">
            <a:off x="8297700" y="423563"/>
            <a:ext cx="37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Google Shape;120;p22"/>
          <p:cNvCxnSpPr/>
          <p:nvPr/>
        </p:nvCxnSpPr>
        <p:spPr>
          <a:xfrm rot="10800000">
            <a:off x="457150" y="4762563"/>
            <a:ext cx="37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dio Canada Big"/>
              <a:buNone/>
              <a:defRPr sz="2600">
                <a:solidFill>
                  <a:schemeClr val="dk1"/>
                </a:solidFill>
                <a:latin typeface="Radio Canada Big"/>
                <a:ea typeface="Radio Canada Big"/>
                <a:cs typeface="Radio Canada Big"/>
                <a:sym typeface="Radio Canada Big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github.com/nathanho27/PaymentRail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hyperlink" Target="https://public.tableau.com/app/profile/nathan.ho2158/viz/PaymentNetworkMarketAnalysis/PaymentNetworkAnalysi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public.tableau.com/app/profile/nathan.ho2158/viz/RiskVsReturnAnalysis/RiskvsReturnAnalysis" TargetMode="External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public.tableau.com/app/profile/nathan.ho2158/viz/FinancialPerformanceAnalysis_17726872075600/FinancialPerformanceAnalysis" TargetMode="External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public.tableau.com/app/profile/nathan.ho2158/viz/MarketRelationshipAnalysis/MarketRelationshipAnalysis" TargetMode="External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public.tableau.com/app/profile/nathan.ho2158/viz/MarketVolatilityAnalysis/Dashboard1" TargetMode="External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github.com/nathanho27/PaymentRail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ctrTitle"/>
          </p:nvPr>
        </p:nvSpPr>
        <p:spPr>
          <a:xfrm>
            <a:off x="267425" y="762300"/>
            <a:ext cx="5013900" cy="42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Payment Rails</a:t>
            </a:r>
            <a:endParaRPr/>
          </a:p>
        </p:txBody>
      </p:sp>
      <p:sp>
        <p:nvSpPr>
          <p:cNvPr id="126" name="Google Shape;126;p23"/>
          <p:cNvSpPr txBox="1"/>
          <p:nvPr>
            <p:ph idx="1" type="subTitle"/>
          </p:nvPr>
        </p:nvSpPr>
        <p:spPr>
          <a:xfrm>
            <a:off x="2509125" y="1729825"/>
            <a:ext cx="1218300" cy="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Radio Canada Big"/>
                <a:ea typeface="Radio Canada Big"/>
                <a:cs typeface="Radio Canada Big"/>
                <a:sym typeface="Radio Canada Big"/>
              </a:rPr>
              <a:t>Nathan Ho</a:t>
            </a:r>
            <a:endParaRPr sz="1200">
              <a:solidFill>
                <a:srgbClr val="666666"/>
              </a:solidFill>
              <a:latin typeface="Radio Canada Big"/>
              <a:ea typeface="Radio Canada Big"/>
              <a:cs typeface="Radio Canada Big"/>
              <a:sym typeface="Radio Canada Big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834275" y="1190700"/>
            <a:ext cx="4829700" cy="6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Radio Canada Big"/>
                <a:ea typeface="Radio Canada Big"/>
                <a:cs typeface="Radio Canada Big"/>
                <a:sym typeface="Radio Canada Big"/>
              </a:rPr>
              <a:t>A comparative analysis of Visa and Mastercard:</a:t>
            </a:r>
            <a:endParaRPr>
              <a:solidFill>
                <a:srgbClr val="666666"/>
              </a:solidFill>
              <a:latin typeface="Radio Canada Big"/>
              <a:ea typeface="Radio Canada Big"/>
              <a:cs typeface="Radio Canada Big"/>
              <a:sym typeface="Radio Canada Bi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Radio Canada Big"/>
                <a:ea typeface="Radio Canada Big"/>
                <a:cs typeface="Radio Canada Big"/>
                <a:sym typeface="Radio Canada Big"/>
              </a:rPr>
              <a:t>Market Performance, Risk, and Financial Fundamentals</a:t>
            </a:r>
            <a:endParaRPr>
              <a:solidFill>
                <a:srgbClr val="666666"/>
              </a:solidFill>
              <a:latin typeface="Radio Canada Big"/>
              <a:ea typeface="Radio Canada Big"/>
              <a:cs typeface="Radio Canada Big"/>
              <a:sym typeface="Radio Canada Big"/>
            </a:endParaRPr>
          </a:p>
        </p:txBody>
      </p:sp>
      <p:pic>
        <p:nvPicPr>
          <p:cNvPr id="128" name="Google Shape;128;p23" title="visa-logo-png-20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525" y="183700"/>
            <a:ext cx="908275" cy="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 title="mastercard-261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4925" y="555650"/>
            <a:ext cx="667049" cy="531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23"/>
          <p:cNvCxnSpPr/>
          <p:nvPr/>
        </p:nvCxnSpPr>
        <p:spPr>
          <a:xfrm flipH="1" rot="10800000">
            <a:off x="834275" y="1775875"/>
            <a:ext cx="4500600" cy="22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457200" y="228600"/>
            <a:ext cx="845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TABLE OF CONTENTS</a:t>
            </a:r>
            <a:endParaRPr b="1"/>
          </a:p>
        </p:txBody>
      </p:sp>
      <p:sp>
        <p:nvSpPr>
          <p:cNvPr id="136" name="Google Shape;136;p24"/>
          <p:cNvSpPr txBox="1"/>
          <p:nvPr>
            <p:ph idx="1" type="subTitle"/>
          </p:nvPr>
        </p:nvSpPr>
        <p:spPr>
          <a:xfrm>
            <a:off x="457200" y="1543675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</a:t>
            </a:r>
            <a:endParaRPr b="1"/>
          </a:p>
        </p:txBody>
      </p:sp>
      <p:sp>
        <p:nvSpPr>
          <p:cNvPr id="137" name="Google Shape;137;p24"/>
          <p:cNvSpPr txBox="1"/>
          <p:nvPr>
            <p:ph idx="2" type="subTitle"/>
          </p:nvPr>
        </p:nvSpPr>
        <p:spPr>
          <a:xfrm>
            <a:off x="457200" y="2320108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Market Performance</a:t>
            </a:r>
            <a:endParaRPr b="1"/>
          </a:p>
        </p:txBody>
      </p:sp>
      <p:sp>
        <p:nvSpPr>
          <p:cNvPr id="138" name="Google Shape;138;p24"/>
          <p:cNvSpPr txBox="1"/>
          <p:nvPr>
            <p:ph idx="3" type="subTitle"/>
          </p:nvPr>
        </p:nvSpPr>
        <p:spPr>
          <a:xfrm>
            <a:off x="457200" y="3109554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Risk vs Return</a:t>
            </a:r>
            <a:endParaRPr b="1"/>
          </a:p>
        </p:txBody>
      </p:sp>
      <p:sp>
        <p:nvSpPr>
          <p:cNvPr id="139" name="Google Shape;139;p24"/>
          <p:cNvSpPr txBox="1"/>
          <p:nvPr>
            <p:ph idx="4" type="subTitle"/>
          </p:nvPr>
        </p:nvSpPr>
        <p:spPr>
          <a:xfrm>
            <a:off x="457200" y="3899025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Financial Performance</a:t>
            </a:r>
            <a:endParaRPr b="1"/>
          </a:p>
        </p:txBody>
      </p:sp>
      <p:sp>
        <p:nvSpPr>
          <p:cNvPr id="140" name="Google Shape;140;p24"/>
          <p:cNvSpPr txBox="1"/>
          <p:nvPr>
            <p:ph idx="5" type="subTitle"/>
          </p:nvPr>
        </p:nvSpPr>
        <p:spPr>
          <a:xfrm>
            <a:off x="6115500" y="1543663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Market Relationships</a:t>
            </a:r>
            <a:endParaRPr b="1"/>
          </a:p>
        </p:txBody>
      </p:sp>
      <p:sp>
        <p:nvSpPr>
          <p:cNvPr id="141" name="Google Shape;141;p24"/>
          <p:cNvSpPr txBox="1"/>
          <p:nvPr>
            <p:ph idx="6" type="subTitle"/>
          </p:nvPr>
        </p:nvSpPr>
        <p:spPr>
          <a:xfrm>
            <a:off x="6115500" y="2320094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Market Volatility</a:t>
            </a:r>
            <a:endParaRPr b="1"/>
          </a:p>
        </p:txBody>
      </p:sp>
      <p:sp>
        <p:nvSpPr>
          <p:cNvPr id="142" name="Google Shape;142;p24"/>
          <p:cNvSpPr txBox="1"/>
          <p:nvPr>
            <p:ph idx="7" type="subTitle"/>
          </p:nvPr>
        </p:nvSpPr>
        <p:spPr>
          <a:xfrm>
            <a:off x="6115500" y="3109537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Insights</a:t>
            </a:r>
            <a:endParaRPr b="1"/>
          </a:p>
        </p:txBody>
      </p:sp>
      <p:sp>
        <p:nvSpPr>
          <p:cNvPr id="143" name="Google Shape;143;p24"/>
          <p:cNvSpPr txBox="1"/>
          <p:nvPr>
            <p:ph idx="8" type="subTitle"/>
          </p:nvPr>
        </p:nvSpPr>
        <p:spPr>
          <a:xfrm>
            <a:off x="6115500" y="3899006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</a:t>
            </a:r>
            <a:endParaRPr b="1"/>
          </a:p>
        </p:txBody>
      </p:sp>
      <p:sp>
        <p:nvSpPr>
          <p:cNvPr id="144" name="Google Shape;144;p24"/>
          <p:cNvSpPr txBox="1"/>
          <p:nvPr>
            <p:ph idx="9" type="title"/>
          </p:nvPr>
        </p:nvSpPr>
        <p:spPr>
          <a:xfrm>
            <a:off x="3040226" y="3965513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04</a:t>
            </a:r>
            <a:endParaRPr b="1"/>
          </a:p>
        </p:txBody>
      </p:sp>
      <p:sp>
        <p:nvSpPr>
          <p:cNvPr id="145" name="Google Shape;145;p24"/>
          <p:cNvSpPr txBox="1"/>
          <p:nvPr>
            <p:ph idx="13" type="title"/>
          </p:nvPr>
        </p:nvSpPr>
        <p:spPr>
          <a:xfrm>
            <a:off x="3040226" y="2386396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02</a:t>
            </a:r>
            <a:endParaRPr b="1"/>
          </a:p>
        </p:txBody>
      </p:sp>
      <p:sp>
        <p:nvSpPr>
          <p:cNvPr id="146" name="Google Shape;146;p24"/>
          <p:cNvSpPr txBox="1"/>
          <p:nvPr>
            <p:ph idx="14" type="title"/>
          </p:nvPr>
        </p:nvSpPr>
        <p:spPr>
          <a:xfrm>
            <a:off x="3040226" y="1610163"/>
            <a:ext cx="8643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01</a:t>
            </a:r>
            <a:endParaRPr b="1"/>
          </a:p>
        </p:txBody>
      </p:sp>
      <p:sp>
        <p:nvSpPr>
          <p:cNvPr id="147" name="Google Shape;147;p24"/>
          <p:cNvSpPr txBox="1"/>
          <p:nvPr>
            <p:ph idx="15" type="title"/>
          </p:nvPr>
        </p:nvSpPr>
        <p:spPr>
          <a:xfrm>
            <a:off x="3040226" y="3175942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03</a:t>
            </a:r>
            <a:endParaRPr b="1"/>
          </a:p>
        </p:txBody>
      </p:sp>
      <p:sp>
        <p:nvSpPr>
          <p:cNvPr id="148" name="Google Shape;148;p24"/>
          <p:cNvSpPr txBox="1"/>
          <p:nvPr>
            <p:ph idx="16" type="title"/>
          </p:nvPr>
        </p:nvSpPr>
        <p:spPr>
          <a:xfrm>
            <a:off x="5210389" y="2397331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06</a:t>
            </a:r>
            <a:endParaRPr b="1"/>
          </a:p>
        </p:txBody>
      </p:sp>
      <p:sp>
        <p:nvSpPr>
          <p:cNvPr id="149" name="Google Shape;149;p24"/>
          <p:cNvSpPr txBox="1"/>
          <p:nvPr>
            <p:ph idx="17" type="title"/>
          </p:nvPr>
        </p:nvSpPr>
        <p:spPr>
          <a:xfrm>
            <a:off x="5210387" y="3186775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07</a:t>
            </a:r>
            <a:endParaRPr b="1"/>
          </a:p>
        </p:txBody>
      </p:sp>
      <p:sp>
        <p:nvSpPr>
          <p:cNvPr id="150" name="Google Shape;150;p24"/>
          <p:cNvSpPr txBox="1"/>
          <p:nvPr>
            <p:ph idx="18" type="title"/>
          </p:nvPr>
        </p:nvSpPr>
        <p:spPr>
          <a:xfrm>
            <a:off x="5210389" y="3976244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08</a:t>
            </a:r>
            <a:endParaRPr b="1"/>
          </a:p>
        </p:txBody>
      </p:sp>
      <p:sp>
        <p:nvSpPr>
          <p:cNvPr id="151" name="Google Shape;151;p24"/>
          <p:cNvSpPr txBox="1"/>
          <p:nvPr>
            <p:ph idx="19" type="title"/>
          </p:nvPr>
        </p:nvSpPr>
        <p:spPr>
          <a:xfrm>
            <a:off x="5210389" y="1620900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05</a:t>
            </a:r>
            <a:endParaRPr b="1"/>
          </a:p>
        </p:txBody>
      </p:sp>
      <p:cxnSp>
        <p:nvCxnSpPr>
          <p:cNvPr id="152" name="Google Shape;152;p24"/>
          <p:cNvCxnSpPr/>
          <p:nvPr/>
        </p:nvCxnSpPr>
        <p:spPr>
          <a:xfrm rot="10800000">
            <a:off x="463525" y="1539150"/>
            <a:ext cx="317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4"/>
          <p:cNvCxnSpPr/>
          <p:nvPr/>
        </p:nvCxnSpPr>
        <p:spPr>
          <a:xfrm rot="10800000">
            <a:off x="463525" y="2325750"/>
            <a:ext cx="317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4"/>
          <p:cNvCxnSpPr/>
          <p:nvPr/>
        </p:nvCxnSpPr>
        <p:spPr>
          <a:xfrm rot="10800000">
            <a:off x="463525" y="3112350"/>
            <a:ext cx="317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24"/>
          <p:cNvCxnSpPr/>
          <p:nvPr/>
        </p:nvCxnSpPr>
        <p:spPr>
          <a:xfrm rot="10800000">
            <a:off x="463525" y="3898950"/>
            <a:ext cx="317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24"/>
          <p:cNvCxnSpPr/>
          <p:nvPr/>
        </p:nvCxnSpPr>
        <p:spPr>
          <a:xfrm rot="10800000">
            <a:off x="5498100" y="1539150"/>
            <a:ext cx="317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4"/>
          <p:cNvCxnSpPr/>
          <p:nvPr/>
        </p:nvCxnSpPr>
        <p:spPr>
          <a:xfrm rot="10800000">
            <a:off x="5498100" y="2325750"/>
            <a:ext cx="317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4"/>
          <p:cNvCxnSpPr/>
          <p:nvPr/>
        </p:nvCxnSpPr>
        <p:spPr>
          <a:xfrm rot="10800000">
            <a:off x="5498100" y="3112350"/>
            <a:ext cx="317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4"/>
          <p:cNvCxnSpPr/>
          <p:nvPr/>
        </p:nvCxnSpPr>
        <p:spPr>
          <a:xfrm rot="10800000">
            <a:off x="5498100" y="3898950"/>
            <a:ext cx="317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0" name="Google Shape;160;p24" title="visa-logo-png-20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525" y="91850"/>
            <a:ext cx="908275" cy="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 title="mastercard-261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2575" y="456175"/>
            <a:ext cx="667049" cy="53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457199" y="1388750"/>
            <a:ext cx="57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Objective:</a:t>
            </a:r>
            <a:r>
              <a:rPr lang="en"/>
              <a:t> Analyze and compare market performance, risk </a:t>
            </a:r>
            <a:r>
              <a:rPr lang="en"/>
              <a:t>characteristics</a:t>
            </a:r>
            <a:r>
              <a:rPr lang="en"/>
              <a:t>, and financial fundamentals of Visa and Mastercard relative to the S&amp;P 500.</a:t>
            </a:r>
            <a:endParaRPr/>
          </a:p>
        </p:txBody>
      </p:sp>
      <p:sp>
        <p:nvSpPr>
          <p:cNvPr id="167" name="Google Shape;167;p25"/>
          <p:cNvSpPr txBox="1"/>
          <p:nvPr>
            <p:ph idx="3" type="subTitle"/>
          </p:nvPr>
        </p:nvSpPr>
        <p:spPr>
          <a:xfrm>
            <a:off x="1107778" y="1988248"/>
            <a:ext cx="39414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Timeframe: 2010 - March 2026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Assets: Visa (V), Mastercard (MA), S&amp;P 500 (^GSPC)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Focus: Market performance, risk, and financial metrics</a:t>
            </a:r>
            <a:endParaRPr/>
          </a:p>
        </p:txBody>
      </p:sp>
      <p:sp>
        <p:nvSpPr>
          <p:cNvPr id="168" name="Google Shape;168;p25"/>
          <p:cNvSpPr txBox="1"/>
          <p:nvPr>
            <p:ph idx="4" type="subTitle"/>
          </p:nvPr>
        </p:nvSpPr>
        <p:spPr>
          <a:xfrm>
            <a:off x="1107775" y="3325225"/>
            <a:ext cx="40509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 ingestion and processing in Python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SQL-based analytics layer for metric computation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Visualization in Tableau and Excel</a:t>
            </a:r>
            <a:endParaRPr/>
          </a:p>
        </p:txBody>
      </p:sp>
      <p:sp>
        <p:nvSpPr>
          <p:cNvPr id="169" name="Google Shape;169;p25"/>
          <p:cNvSpPr txBox="1"/>
          <p:nvPr>
            <p:ph type="title"/>
          </p:nvPr>
        </p:nvSpPr>
        <p:spPr>
          <a:xfrm>
            <a:off x="457200" y="228600"/>
            <a:ext cx="541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</a:t>
            </a:r>
            <a:endParaRPr b="1"/>
          </a:p>
        </p:txBody>
      </p:sp>
      <p:pic>
        <p:nvPicPr>
          <p:cNvPr id="170" name="Google Shape;170;p25" title="visa-logo-png-20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525" y="183700"/>
            <a:ext cx="908275" cy="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5" title="mastercard-261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4925" y="555650"/>
            <a:ext cx="667049" cy="53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 txBox="1"/>
          <p:nvPr/>
        </p:nvSpPr>
        <p:spPr>
          <a:xfrm>
            <a:off x="1107775" y="4707300"/>
            <a:ext cx="45081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Analysis conducted using historical market data </a:t>
            </a:r>
            <a:r>
              <a:rPr lang="en" sz="85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through</a:t>
            </a:r>
            <a:r>
              <a:rPr lang="en" sz="85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early March 2026</a:t>
            </a:r>
            <a:endParaRPr sz="85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1107775" y="4411500"/>
            <a:ext cx="5206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The code for this project can be found at </a:t>
            </a:r>
            <a:r>
              <a:rPr lang="en" sz="85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5"/>
              </a:rPr>
              <a:t>https://github.com/nathanho27/PaymentRails</a:t>
            </a:r>
            <a:endParaRPr sz="85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idx="1" type="subTitle"/>
          </p:nvPr>
        </p:nvSpPr>
        <p:spPr>
          <a:xfrm>
            <a:off x="5873998" y="1610600"/>
            <a:ext cx="2776800" cy="5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Visa and Mastercard significantly outperform the S&amp;P 500 over long-term horizons.</a:t>
            </a:r>
            <a:endParaRPr b="1" sz="1200"/>
          </a:p>
        </p:txBody>
      </p:sp>
      <p:sp>
        <p:nvSpPr>
          <p:cNvPr id="179" name="Google Shape;179;p26"/>
          <p:cNvSpPr txBox="1"/>
          <p:nvPr>
            <p:ph idx="3" type="subTitle"/>
          </p:nvPr>
        </p:nvSpPr>
        <p:spPr>
          <a:xfrm>
            <a:off x="5798100" y="2206475"/>
            <a:ext cx="3345900" cy="20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</a:t>
            </a:r>
            <a:r>
              <a:rPr lang="en"/>
              <a:t>Mastercard exhibits slightly stronger cumulative returns over the sample period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Both firms demonstrate consistent long-term growth driven by scalable network models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Drawdowns occur but recover more quickly relative to the broader market  </a:t>
            </a:r>
            <a:endParaRPr/>
          </a:p>
        </p:txBody>
      </p:sp>
      <p:sp>
        <p:nvSpPr>
          <p:cNvPr id="180" name="Google Shape;180;p26"/>
          <p:cNvSpPr txBox="1"/>
          <p:nvPr>
            <p:ph type="title"/>
          </p:nvPr>
        </p:nvSpPr>
        <p:spPr>
          <a:xfrm>
            <a:off x="457200" y="228600"/>
            <a:ext cx="541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Performance</a:t>
            </a:r>
            <a:endParaRPr/>
          </a:p>
        </p:txBody>
      </p:sp>
      <p:pic>
        <p:nvPicPr>
          <p:cNvPr id="181" name="Google Shape;181;p26" title="visa-logo-png-20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525" y="183700"/>
            <a:ext cx="908275" cy="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6" title="mastercard-261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4925" y="555650"/>
            <a:ext cx="667049" cy="53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yment Network Market Analysis" id="183" name="Google Shape;18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225" y="901250"/>
            <a:ext cx="5520201" cy="367558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6"/>
          <p:cNvSpPr txBox="1"/>
          <p:nvPr/>
        </p:nvSpPr>
        <p:spPr>
          <a:xfrm>
            <a:off x="142863" y="4660650"/>
            <a:ext cx="5456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6"/>
              </a:rPr>
              <a:t>Market Performance Dashboard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idx="1" type="subTitle"/>
          </p:nvPr>
        </p:nvSpPr>
        <p:spPr>
          <a:xfrm>
            <a:off x="5785248" y="1745650"/>
            <a:ext cx="2776800" cy="5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Mastercard delivers slightly higher returns but exhibits greater volatility than Visa.</a:t>
            </a:r>
            <a:endParaRPr b="1" sz="1200"/>
          </a:p>
        </p:txBody>
      </p:sp>
      <p:sp>
        <p:nvSpPr>
          <p:cNvPr id="190" name="Google Shape;190;p27"/>
          <p:cNvSpPr txBox="1"/>
          <p:nvPr>
            <p:ph idx="3" type="subTitle"/>
          </p:nvPr>
        </p:nvSpPr>
        <p:spPr>
          <a:xfrm>
            <a:off x="5596075" y="2349563"/>
            <a:ext cx="3345900" cy="20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</a:t>
            </a:r>
            <a:r>
              <a:rPr lang="en"/>
              <a:t>Both companies outperform the S&amp;P 500 on a risk-adjusted basis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</a:t>
            </a:r>
            <a:r>
              <a:rPr lang="en"/>
              <a:t>Mastercard delivers higher returns but exhibits greater volatility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Visa maintains a more stable risk profile with slightly lower returns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7"/>
          <p:cNvSpPr txBox="1"/>
          <p:nvPr>
            <p:ph type="title"/>
          </p:nvPr>
        </p:nvSpPr>
        <p:spPr>
          <a:xfrm>
            <a:off x="457200" y="228600"/>
            <a:ext cx="541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vs Return</a:t>
            </a:r>
            <a:endParaRPr/>
          </a:p>
        </p:txBody>
      </p:sp>
      <p:pic>
        <p:nvPicPr>
          <p:cNvPr id="192" name="Google Shape;192;p27" title="visa-logo-png-20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525" y="183700"/>
            <a:ext cx="908275" cy="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 title="mastercard-261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4925" y="555650"/>
            <a:ext cx="667049" cy="53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 txBox="1"/>
          <p:nvPr/>
        </p:nvSpPr>
        <p:spPr>
          <a:xfrm>
            <a:off x="139363" y="4787850"/>
            <a:ext cx="5456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5"/>
              </a:rPr>
              <a:t>Risk vs Return Dashboard</a:t>
            </a:r>
            <a:endParaRPr u="sng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Risk vs Return Analysis" id="195" name="Google Shape;195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324" y="754050"/>
            <a:ext cx="5416801" cy="4079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idx="1" type="subTitle"/>
          </p:nvPr>
        </p:nvSpPr>
        <p:spPr>
          <a:xfrm>
            <a:off x="5873998" y="1796250"/>
            <a:ext cx="2776800" cy="5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Visa and Mastercard demonstrate strong revenue growth and high profitability driven by scalable payment network models.</a:t>
            </a:r>
            <a:endParaRPr b="1" sz="1200"/>
          </a:p>
        </p:txBody>
      </p:sp>
      <p:sp>
        <p:nvSpPr>
          <p:cNvPr id="201" name="Google Shape;201;p28"/>
          <p:cNvSpPr txBox="1"/>
          <p:nvPr>
            <p:ph idx="3" type="subTitle"/>
          </p:nvPr>
        </p:nvSpPr>
        <p:spPr>
          <a:xfrm>
            <a:off x="5711350" y="2327550"/>
            <a:ext cx="3345900" cy="20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Both companies show consistent revenue growth driven by increasing global transaction volumes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Visa maintains higher operating margins, reflecting greater operational efficiency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Mastercard demonstrates strong profitability growth while slightly trailing Visa in margins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8"/>
          <p:cNvSpPr txBox="1"/>
          <p:nvPr>
            <p:ph type="title"/>
          </p:nvPr>
        </p:nvSpPr>
        <p:spPr>
          <a:xfrm>
            <a:off x="457200" y="228600"/>
            <a:ext cx="541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Performance</a:t>
            </a:r>
            <a:endParaRPr/>
          </a:p>
        </p:txBody>
      </p:sp>
      <p:pic>
        <p:nvPicPr>
          <p:cNvPr id="203" name="Google Shape;203;p28" title="visa-logo-png-20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525" y="183700"/>
            <a:ext cx="908275" cy="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8" title="mastercard-261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4925" y="555650"/>
            <a:ext cx="667049" cy="53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8"/>
          <p:cNvSpPr txBox="1"/>
          <p:nvPr/>
        </p:nvSpPr>
        <p:spPr>
          <a:xfrm>
            <a:off x="142863" y="4790775"/>
            <a:ext cx="5456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5"/>
              </a:rPr>
              <a:t>Financial Performance Dashboard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Financial Performance Analysis" id="206" name="Google Shape;206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875" y="801300"/>
            <a:ext cx="5378400" cy="398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idx="1" type="subTitle"/>
          </p:nvPr>
        </p:nvSpPr>
        <p:spPr>
          <a:xfrm>
            <a:off x="6082648" y="1723600"/>
            <a:ext cx="2776800" cy="5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Visa and Mastercard are highly correlated with the S&amp;P 500 but consistently generate positive excess returns.</a:t>
            </a:r>
            <a:endParaRPr b="1" sz="1200"/>
          </a:p>
        </p:txBody>
      </p:sp>
      <p:sp>
        <p:nvSpPr>
          <p:cNvPr id="212" name="Google Shape;212;p29"/>
          <p:cNvSpPr txBox="1"/>
          <p:nvPr>
            <p:ph idx="3" type="subTitle"/>
          </p:nvPr>
        </p:nvSpPr>
        <p:spPr>
          <a:xfrm>
            <a:off x="5995900" y="2254900"/>
            <a:ext cx="3144000" cy="19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Both companies maintain high correlation with the S&amp;P 500, reflecting strong market linkage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Beta remains close to 1, indicating sensitivity to broader market movements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Despite this, both stocks consistently generate positive return spreads relative to the market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457200" y="228600"/>
            <a:ext cx="541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Relationships</a:t>
            </a:r>
            <a:endParaRPr/>
          </a:p>
        </p:txBody>
      </p:sp>
      <p:pic>
        <p:nvPicPr>
          <p:cNvPr id="214" name="Google Shape;214;p29" title="visa-logo-png-20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525" y="183700"/>
            <a:ext cx="908275" cy="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 title="mastercard-261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4925" y="555650"/>
            <a:ext cx="667049" cy="53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9"/>
          <p:cNvSpPr txBox="1"/>
          <p:nvPr/>
        </p:nvSpPr>
        <p:spPr>
          <a:xfrm>
            <a:off x="108313" y="4765600"/>
            <a:ext cx="5456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5"/>
              </a:rPr>
              <a:t>Market Relationship Dashboard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Market Relationship Analysis" id="217" name="Google Shape;21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325" y="879425"/>
            <a:ext cx="5829250" cy="38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idx="1" type="subTitle"/>
          </p:nvPr>
        </p:nvSpPr>
        <p:spPr>
          <a:xfrm>
            <a:off x="5995898" y="1796250"/>
            <a:ext cx="2776800" cy="5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Visa and Mastercard remain resilient and continue to generate positive returns across different market volatility regimes.</a:t>
            </a:r>
            <a:endParaRPr b="1" sz="1200"/>
          </a:p>
        </p:txBody>
      </p:sp>
      <p:sp>
        <p:nvSpPr>
          <p:cNvPr id="223" name="Google Shape;223;p30"/>
          <p:cNvSpPr txBox="1"/>
          <p:nvPr>
            <p:ph idx="3" type="subTitle"/>
          </p:nvPr>
        </p:nvSpPr>
        <p:spPr>
          <a:xfrm>
            <a:off x="5639175" y="2327550"/>
            <a:ext cx="3052800" cy="20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Both companies generate positive returns in low, moderate, and high volatility environments 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Risk-adjusted performance remains strong even during periods of elevated market stress 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Mastercard exhibits slightly higher returns, while Visa maintains more stable volatility characteristics 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/>
          <p:cNvSpPr txBox="1"/>
          <p:nvPr>
            <p:ph type="title"/>
          </p:nvPr>
        </p:nvSpPr>
        <p:spPr>
          <a:xfrm>
            <a:off x="457200" y="228600"/>
            <a:ext cx="541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Volatility</a:t>
            </a:r>
            <a:endParaRPr/>
          </a:p>
        </p:txBody>
      </p:sp>
      <p:pic>
        <p:nvPicPr>
          <p:cNvPr id="225" name="Google Shape;225;p30" title="visa-logo-png-20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525" y="183700"/>
            <a:ext cx="908275" cy="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0" title="mastercard-261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4925" y="555650"/>
            <a:ext cx="667049" cy="53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0"/>
          <p:cNvSpPr txBox="1"/>
          <p:nvPr/>
        </p:nvSpPr>
        <p:spPr>
          <a:xfrm>
            <a:off x="142863" y="4660650"/>
            <a:ext cx="5456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5"/>
              </a:rPr>
              <a:t>Market Volatility Dashboard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Market Volatility Analysis" id="228" name="Google Shape;228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426" y="801301"/>
            <a:ext cx="5783575" cy="3870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/>
          <p:nvPr>
            <p:ph type="title"/>
          </p:nvPr>
        </p:nvSpPr>
        <p:spPr>
          <a:xfrm>
            <a:off x="206975" y="183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</a:t>
            </a:r>
            <a:endParaRPr/>
          </a:p>
        </p:txBody>
      </p:sp>
      <p:pic>
        <p:nvPicPr>
          <p:cNvPr id="234" name="Google Shape;234;p31" title="visa-logo-png-20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525" y="183700"/>
            <a:ext cx="908275" cy="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1" title="mastercard-261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4925" y="555650"/>
            <a:ext cx="667049" cy="53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1"/>
          <p:cNvSpPr txBox="1"/>
          <p:nvPr/>
        </p:nvSpPr>
        <p:spPr>
          <a:xfrm>
            <a:off x="290600" y="863700"/>
            <a:ext cx="7248600" cy="3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Visa and Mastercard consistently outperform the S&amp;P 500, which suggests their business model provides advantages beyond general market exposure  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Both companies experienced clear drawdowns during major events like the COVID-19 market downturn, but recovered quickly and continued their long-term upward trend  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Even with high correlation and beta close to 1, both companies still generate positive return spreads, showing they’re not just moving with the market  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Mastercard tends to deliver higher returns, but with more volatility, while Visa maintains a more stable and consistent risk profile  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Across different market conditions, both companies continue to generate strong risk-adjusted returns, even during periods of higher volatility  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Strong revenue growth and high margins reinforce how scalable and efficient the payment network model is  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206975" y="183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pic>
        <p:nvPicPr>
          <p:cNvPr id="242" name="Google Shape;242;p32" title="visa-logo-png-20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525" y="183700"/>
            <a:ext cx="908275" cy="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2" title="mastercard-261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4925" y="555650"/>
            <a:ext cx="667049" cy="53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2"/>
          <p:cNvSpPr txBox="1"/>
          <p:nvPr/>
        </p:nvSpPr>
        <p:spPr>
          <a:xfrm>
            <a:off x="285125" y="847575"/>
            <a:ext cx="7547700" cy="30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Visa and Mastercard demonstrate the strength of the global payment network business model.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Both companies benefit from scalable, asset-light infrastructure and strong network effects, allowing them to generate consistent growth, high profitability, and resilient performance across market conditions.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While Mastercard delivers higher returns with greater volatility, Visa provides a more stable risk profile, and both companies show durable long-term performance continuing to outperform the broader market.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Overall, payment networks represent high-quality, long-term assets within the financial ecosystem.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285125" y="4480025"/>
            <a:ext cx="50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The code and a more in-depth README for this project can be found at </a:t>
            </a:r>
            <a:r>
              <a:rPr b="1" lang="en" sz="10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5"/>
              </a:rPr>
              <a:t>Github</a:t>
            </a:r>
            <a:endParaRPr b="1"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Launches by Slidesgo">
  <a:themeElements>
    <a:clrScheme name="Simple Light">
      <a:dk1>
        <a:srgbClr val="191919"/>
      </a:dk1>
      <a:lt1>
        <a:srgbClr val="EEEEEE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